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Good morning — I'm proposing a system that predicts short-term traffic congestion and recommends less congested alternate routes, built entirely from scratch in C++.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Since no public Dhaka traffic dataset exists, I'm validating the full pipeline on METR-LA — a real, research-grade benchmark — so the algorithms are proven before applying them locally.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system takes raw traffic data, predicts congestion using three progressively complex models, classifies it into a clear label, and recommends a faster route when congestion is high.</a:t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model — from the baseline to the neural network — and Dijkstra's algorithm are implemented entirely from scratch in C++, with no external ML or numerical libraries.</a:t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By the end of the project, the system will output a clear, color-coded congestion prediction and, when needed, a recommended alternate route — and I'm happy to answer any questions.</a:t>
            </a:r>
            <a:endParaRPr/>
          </a:p>
        </p:txBody>
      </p:sp>
      <p:sp>
        <p:nvSpPr>
          <p:cNvPr id="94" name="Google Shape;9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ppt/icons/route.png" id="16" name="Google Shape;16;p3"/>
          <p:cNvPicPr preferRelativeResize="0"/>
          <p:nvPr/>
        </p:nvPicPr>
        <p:blipFill rotWithShape="1">
          <a:blip r:embed="rId3">
            <a:alphaModFix amt="12000"/>
          </a:blip>
          <a:srcRect b="0" l="0" r="0" t="0"/>
          <a:stretch/>
        </p:blipFill>
        <p:spPr>
          <a:xfrm>
            <a:off x="9509760" y="4206240"/>
            <a:ext cx="237744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lang="en-US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                                                           </a:t>
            </a: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SPL1 Project Proposal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731520" y="1554480"/>
            <a:ext cx="106984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Short-Term Traffic Congestion Prediction &amp;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Alternate Route Recommendation System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1280160" y="306324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923"/>
              </a:buClr>
              <a:buSzPts val="1600"/>
              <a:buFont typeface="Cambria"/>
              <a:buNone/>
            </a:pPr>
            <a:r>
              <a:rPr b="0" i="1" lang="en-US" sz="1600" u="none" cap="none" strike="noStrike">
                <a:solidFill>
                  <a:srgbClr val="E8B923"/>
                </a:solidFill>
                <a:latin typeface="Cambria"/>
                <a:ea typeface="Cambria"/>
                <a:cs typeface="Cambria"/>
                <a:sym typeface="Cambria"/>
              </a:rPr>
              <a:t>Predicting congestion before it happens — built from scratch, in C++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731520" y="4407408"/>
            <a:ext cx="1069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Target Users:  Commuters   •   City Traffic Planners   •   ITS Researchers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" name="Google Shape;21;p3"/>
          <p:cNvCxnSpPr/>
          <p:nvPr/>
        </p:nvCxnSpPr>
        <p:spPr>
          <a:xfrm>
            <a:off x="4937760" y="5257800"/>
            <a:ext cx="2286000" cy="0"/>
          </a:xfrm>
          <a:prstGeom prst="straightConnector1">
            <a:avLst/>
          </a:prstGeom>
          <a:noFill/>
          <a:ln cap="flat" cmpd="sng" w="1270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/>
        </p:nvSpPr>
        <p:spPr>
          <a:xfrm>
            <a:off x="731520" y="548640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Muhtasim Jawad   |   Roll 1706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731520" y="5806440"/>
            <a:ext cx="10698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Supervisor: Professor Dr. Naushin Nower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Problem Statement &amp; Data Strategy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Google Shape;30;p4"/>
          <p:cNvCxnSpPr/>
          <p:nvPr/>
        </p:nvCxnSpPr>
        <p:spPr>
          <a:xfrm>
            <a:off x="6080760" y="1417320"/>
            <a:ext cx="0" cy="4480560"/>
          </a:xfrm>
          <a:prstGeom prst="straightConnector1">
            <a:avLst/>
          </a:prstGeom>
          <a:noFill/>
          <a:ln cap="flat" cmpd="sng" w="12700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" name="Google Shape;31;p4"/>
          <p:cNvSpPr/>
          <p:nvPr/>
        </p:nvSpPr>
        <p:spPr>
          <a:xfrm>
            <a:off x="685800" y="1508760"/>
            <a:ext cx="566928" cy="56692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warning.pn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6968" y="17099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1417320" y="1572768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The Problem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685800" y="233172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Bangladesh has no accessible tool for forecasting road congestion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Commuters and planners rely on reactive, not predictive, information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libri"/>
              <a:buChar char="•"/>
            </a:pPr>
            <a:r>
              <a:rPr b="0" i="0" lang="en-US" sz="16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 transparent, learnable ML pipeline exists for local traffic research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446520" y="1508760"/>
            <a:ext cx="566928" cy="566928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database.png" id="36" name="Google Shape;36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7688" y="1709928"/>
            <a:ext cx="164592" cy="16459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/>
        </p:nvSpPr>
        <p:spPr>
          <a:xfrm>
            <a:off x="7178040" y="1572768"/>
            <a:ext cx="4389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mbria"/>
              <a:buNone/>
            </a:pPr>
            <a:r>
              <a:rPr b="1" i="0" lang="en-US" sz="18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Data Strategy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6446520" y="2331720"/>
            <a:ext cx="51206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683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 public real-time Dhaka traffic dataset exists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Solution: METR-LA benchmark — 207 LA highway sensors, 5-min intervals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68300" lvl="0" marL="34290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Same dataset used in DCRNN &amp; Graph WaveNet research papers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Proposed Solution &amp; Key Features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 txBox="1"/>
          <p:nvPr/>
        </p:nvSpPr>
        <p:spPr>
          <a:xfrm>
            <a:off x="548640" y="960120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3D5A80"/>
                </a:solidFill>
                <a:latin typeface="Cambria"/>
                <a:ea typeface="Cambria"/>
                <a:cs typeface="Cambria"/>
                <a:sym typeface="Cambria"/>
              </a:rPr>
              <a:t>Predict. Classify. Recommend.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548640" y="1783080"/>
            <a:ext cx="3383280" cy="3566160"/>
          </a:xfrm>
          <a:prstGeom prst="roundRect">
            <a:avLst>
              <a:gd fmla="val 2162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1874520" y="219456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chip.png" id="48" name="Google Shape;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57400" y="2377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5"/>
          <p:cNvSpPr txBox="1"/>
          <p:nvPr/>
        </p:nvSpPr>
        <p:spPr>
          <a:xfrm>
            <a:off x="777240" y="32004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Congestion Prediction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822960" y="3886200"/>
            <a:ext cx="2834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250"/>
              <a:buFont typeface="Calibri"/>
              <a:buNone/>
            </a:pPr>
            <a:r>
              <a:rPr b="0" i="0" lang="en-US" sz="18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Baseline, Linear Regression, and Neural Network — all built from scratch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4251960" y="1783080"/>
            <a:ext cx="3383280" cy="3566160"/>
          </a:xfrm>
          <a:prstGeom prst="roundRect">
            <a:avLst>
              <a:gd fmla="val 2162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5577840" y="2194560"/>
            <a:ext cx="731520" cy="73152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traffic.png" id="53" name="Google Shape;5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0720" y="2377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5"/>
          <p:cNvSpPr txBox="1"/>
          <p:nvPr/>
        </p:nvSpPr>
        <p:spPr>
          <a:xfrm>
            <a:off x="4480560" y="32004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Congestion Classification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4526280" y="3886200"/>
            <a:ext cx="2834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250"/>
              <a:buFont typeface="Calibri"/>
              <a:buNone/>
            </a:pPr>
            <a:r>
              <a:rPr b="0" i="0" lang="en-US" sz="18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Predicted speed converted into Free-flow / Moderate / Heavy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7955280" y="1783080"/>
            <a:ext cx="3383280" cy="3566160"/>
          </a:xfrm>
          <a:prstGeom prst="roundRect">
            <a:avLst>
              <a:gd fmla="val 2162" name="adj"/>
            </a:avLst>
          </a:prstGeom>
          <a:solidFill>
            <a:srgbClr val="F5F6F8"/>
          </a:solidFill>
          <a:ln>
            <a:noFill/>
          </a:ln>
          <a:effectLst>
            <a:outerShdw blurRad="762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9281160" y="2194560"/>
            <a:ext cx="731520" cy="7315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route.png" id="58" name="Google Shape;5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64040" y="23774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 txBox="1"/>
          <p:nvPr/>
        </p:nvSpPr>
        <p:spPr>
          <a:xfrm>
            <a:off x="8183880" y="3200400"/>
            <a:ext cx="2926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Route Recommendation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8229600" y="3886200"/>
            <a:ext cx="28346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250"/>
              <a:buFont typeface="Calibri"/>
              <a:buNone/>
            </a:pPr>
            <a:r>
              <a:rPr b="0" i="0" lang="en-US" sz="18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Dijkstra's algorithm using predicted congestion as edge weights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6F8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"/>
          <p:cNvSpPr txBox="1"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ML Models &amp; Technical Architecture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548640" y="1234440"/>
            <a:ext cx="196596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548640" y="123444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Raw Data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2514600" y="1234440"/>
            <a:ext cx="2560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D5A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2770632" y="1234440"/>
            <a:ext cx="196596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2770632" y="123444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4736592" y="1234440"/>
            <a:ext cx="2560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D5A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4992624" y="1234440"/>
            <a:ext cx="1965960" cy="1051560"/>
          </a:xfrm>
          <a:prstGeom prst="roundRect">
            <a:avLst>
              <a:gd fmla="val 6087" name="adj"/>
            </a:avLst>
          </a:prstGeom>
          <a:solidFill>
            <a:srgbClr val="1B2A4A"/>
          </a:solidFill>
          <a:ln cap="flat" cmpd="sng" w="1270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 txBox="1"/>
          <p:nvPr/>
        </p:nvSpPr>
        <p:spPr>
          <a:xfrm>
            <a:off x="4992624" y="123444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ML Models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6958584" y="1234440"/>
            <a:ext cx="2560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D5A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7214616" y="1234440"/>
            <a:ext cx="196596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7214616" y="123444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9180576" y="1234440"/>
            <a:ext cx="25603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D5A8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3D5A8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9436608" y="1234440"/>
            <a:ext cx="1965960" cy="1051560"/>
          </a:xfrm>
          <a:prstGeom prst="roundRect">
            <a:avLst>
              <a:gd fmla="val 6087" name="adj"/>
            </a:avLst>
          </a:prstGeom>
          <a:solidFill>
            <a:srgbClr val="FFFFFF"/>
          </a:solidFill>
          <a:ln cap="flat" cmpd="sng" w="1270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38100">
              <a:srgbClr val="1B2A4A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 txBox="1"/>
          <p:nvPr/>
        </p:nvSpPr>
        <p:spPr>
          <a:xfrm>
            <a:off x="9436608" y="1234440"/>
            <a:ext cx="19659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Route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4169664" y="2377440"/>
            <a:ext cx="3611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A8F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A8F"/>
                </a:solidFill>
                <a:latin typeface="Calibri"/>
                <a:ea typeface="Calibri"/>
                <a:cs typeface="Calibri"/>
                <a:sym typeface="Calibri"/>
              </a:rPr>
              <a:t>Moving Avg → Linear Regression → Neural Network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" name="Google Shape;82;p6"/>
          <p:cNvCxnSpPr/>
          <p:nvPr/>
        </p:nvCxnSpPr>
        <p:spPr>
          <a:xfrm>
            <a:off x="6080760" y="3154680"/>
            <a:ext cx="0" cy="3017520"/>
          </a:xfrm>
          <a:prstGeom prst="straightConnector1">
            <a:avLst/>
          </a:prstGeom>
          <a:noFill/>
          <a:ln cap="flat" cmpd="sng" w="12700">
            <a:solidFill>
              <a:srgbClr val="D5DCE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" name="Google Shape;83;p6"/>
          <p:cNvSpPr/>
          <p:nvPr/>
        </p:nvSpPr>
        <p:spPr>
          <a:xfrm>
            <a:off x="685800" y="3063240"/>
            <a:ext cx="502920" cy="502920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diagram.png" id="84" name="Google Shape;8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5528" y="31729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6"/>
          <p:cNvSpPr txBox="1"/>
          <p:nvPr/>
        </p:nvSpPr>
        <p:spPr>
          <a:xfrm>
            <a:off x="1371600" y="3136392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Technology Stack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 txBox="1"/>
          <p:nvPr/>
        </p:nvSpPr>
        <p:spPr>
          <a:xfrm>
            <a:off x="685800" y="3703320"/>
            <a:ext cx="51207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Language: C++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STL only — vector, string (no external ML libraries)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Compiler: GCC / G++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Version Control: Git / 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446520" y="306324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branch.png" id="88" name="Google Shape;8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6248" y="3172968"/>
            <a:ext cx="283464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6"/>
          <p:cNvSpPr txBox="1"/>
          <p:nvPr/>
        </p:nvSpPr>
        <p:spPr>
          <a:xfrm>
            <a:off x="7132320" y="3136392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b="1" i="0" lang="en-US" sz="1600" u="none" cap="none" strike="noStrike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Algorithms Used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6446520" y="3703320"/>
            <a:ext cx="512064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7465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Moving Average (baseline)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Gradient Descent (Linear Regression)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Backpropagation (Neural Network)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74650" lvl="0" marL="3429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libri"/>
              <a:buChar char="•"/>
            </a:pPr>
            <a:r>
              <a:rPr b="0" i="0" lang="en-US" sz="18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Dijkstra's Algorithm (routing)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"/>
          <p:cNvSpPr txBox="1"/>
          <p:nvPr/>
        </p:nvSpPr>
        <p:spPr>
          <a:xfrm>
            <a:off x="548640" y="41148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mbr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Expected Outcomes &amp; Output Display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594360" y="1417320"/>
            <a:ext cx="384048" cy="384048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check.png" id="98" name="Google Shape;9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149961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7"/>
          <p:cNvSpPr txBox="1"/>
          <p:nvPr/>
        </p:nvSpPr>
        <p:spPr>
          <a:xfrm>
            <a:off x="1143000" y="1362456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Working prediction pipeline with quantified accuracy (MAE / RMSE)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594360" y="2377440"/>
            <a:ext cx="384048" cy="384048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check.png" id="101" name="Google Shape;1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245973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 txBox="1"/>
          <p:nvPr/>
        </p:nvSpPr>
        <p:spPr>
          <a:xfrm>
            <a:off x="1143000" y="2322576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Three models compared side-by-side on the same 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94360" y="3337560"/>
            <a:ext cx="384048" cy="384048"/>
          </a:xfrm>
          <a:prstGeom prst="ellipse">
            <a:avLst/>
          </a:prstGeom>
          <a:solidFill>
            <a:srgbClr val="3D5A8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ppt/icons/check.png" id="104" name="Google Shape;1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6" y="3419856"/>
            <a:ext cx="219456" cy="21945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7"/>
          <p:cNvSpPr txBox="1"/>
          <p:nvPr/>
        </p:nvSpPr>
        <p:spPr>
          <a:xfrm>
            <a:off x="1143000" y="3282696"/>
            <a:ext cx="4480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Functional route recommendation demo using live predictions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 txBox="1"/>
          <p:nvPr/>
        </p:nvSpPr>
        <p:spPr>
          <a:xfrm>
            <a:off x="594360" y="4526280"/>
            <a:ext cx="4480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923"/>
              </a:buClr>
              <a:buSzPts val="1400"/>
              <a:buFont typeface="Cambria"/>
              <a:buNone/>
            </a:pPr>
            <a:r>
              <a:rPr b="0" i="1" lang="en-US" sz="1400" u="none" cap="none" strike="noStrike">
                <a:solidFill>
                  <a:srgbClr val="E8B923"/>
                </a:solidFill>
                <a:latin typeface="Cambria"/>
                <a:ea typeface="Cambria"/>
                <a:cs typeface="Cambria"/>
                <a:sym typeface="Cambria"/>
              </a:rPr>
              <a:t>Ready for Q&amp;A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5989320" y="1371600"/>
            <a:ext cx="5623560" cy="4480560"/>
          </a:xfrm>
          <a:prstGeom prst="roundRect">
            <a:avLst>
              <a:gd fmla="val 1224" name="adj"/>
            </a:avLst>
          </a:prstGeom>
          <a:solidFill>
            <a:srgbClr val="10151F"/>
          </a:solidFill>
          <a:ln cap="flat" cmpd="sng" w="12700">
            <a:solidFill>
              <a:srgbClr val="3D5A8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50800">
              <a:srgbClr val="000000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6217920" y="1572768"/>
            <a:ext cx="146304" cy="146304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473952" y="1572768"/>
            <a:ext cx="146304" cy="146304"/>
          </a:xfrm>
          <a:prstGeom prst="ellipse">
            <a:avLst/>
          </a:prstGeom>
          <a:solidFill>
            <a:srgbClr val="E8B9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729984" y="1572768"/>
            <a:ext cx="146304" cy="146304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6309360" y="1965960"/>
            <a:ext cx="498348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ourier New"/>
              <a:buNone/>
            </a:pPr>
            <a:r>
              <a:rPr b="0" i="0" lang="en-US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Road: Sensor_717447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ourier New"/>
              <a:buNone/>
            </a:pPr>
            <a:r>
              <a:rPr b="0" i="0" lang="en-US" u="none" cap="none" strike="noStrike">
                <a:solidFill>
                  <a:srgbClr val="CADCFC"/>
                </a:solidFill>
                <a:latin typeface="Courier New"/>
                <a:ea typeface="Courier New"/>
                <a:cs typeface="Courier New"/>
                <a:sym typeface="Courier New"/>
              </a:rPr>
              <a:t>Recent speeds: 42, 40, 38, 35, 33, 30 km/h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ourier New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B923"/>
              </a:buClr>
              <a:buSzPts val="1250"/>
              <a:buFont typeface="Courier New"/>
              <a:buNone/>
            </a:pPr>
            <a:r>
              <a:rPr b="0" i="0" lang="en-US" u="none" cap="none" strike="noStrike">
                <a:solidFill>
                  <a:srgbClr val="E8B923"/>
                </a:solidFill>
                <a:latin typeface="Courier New"/>
                <a:ea typeface="Courier New"/>
                <a:cs typeface="Courier New"/>
                <a:sym typeface="Courier New"/>
              </a:rPr>
              <a:t>Baseline Prediction:    30.2 km/h  → MODERATE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B923"/>
              </a:buClr>
              <a:buSzPts val="1250"/>
              <a:buFont typeface="Courier New"/>
              <a:buNone/>
            </a:pPr>
            <a:r>
              <a:rPr b="0" i="0" lang="en-US" u="none" cap="none" strike="noStrike">
                <a:solidFill>
                  <a:srgbClr val="E8B923"/>
                </a:solidFill>
                <a:latin typeface="Courier New"/>
                <a:ea typeface="Courier New"/>
                <a:cs typeface="Courier New"/>
                <a:sym typeface="Courier New"/>
              </a:rPr>
              <a:t>LinearReg Prediction:   28.7 km/h  → MODERATE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50"/>
              <a:buFont typeface="Courier New"/>
              <a:buNone/>
            </a:pPr>
            <a:r>
              <a:rPr b="0" i="0" lang="en-US" u="none" cap="none" strike="noStrike">
                <a:solidFill>
                  <a:srgbClr val="E74C3C"/>
                </a:solidFill>
                <a:latin typeface="Courier New"/>
                <a:ea typeface="Courier New"/>
                <a:cs typeface="Courier New"/>
                <a:sym typeface="Courier New"/>
              </a:rPr>
              <a:t>NeuralNet Prediction:   27.4 km/h  → CONGESTED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Courier New"/>
              <a:buNone/>
            </a:pPr>
            <a:r>
              <a:rPr b="0" i="0" lang="en-US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1250"/>
              <a:buFont typeface="Courier New"/>
              <a:buNone/>
            </a:pPr>
            <a:r>
              <a:rPr b="0" i="0" lang="en-US" u="none" cap="none" strike="noStrike">
                <a:solidFill>
                  <a:srgbClr val="E74C3C"/>
                </a:solidFill>
                <a:latin typeface="Courier New"/>
                <a:ea typeface="Courier New"/>
                <a:cs typeface="Courier New"/>
                <a:sym typeface="Courier New"/>
              </a:rPr>
              <a:t>Route A: 24 min [CONGESTED]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ECC71"/>
              </a:buClr>
              <a:buSzPts val="1250"/>
              <a:buFont typeface="Courier New"/>
              <a:buNone/>
            </a:pPr>
            <a:r>
              <a:rPr b="0" i="0" lang="en-US" u="none" cap="none" strike="noStrike">
                <a:solidFill>
                  <a:srgbClr val="2ECC71"/>
                </a:solidFill>
                <a:latin typeface="Courier New"/>
                <a:ea typeface="Courier New"/>
                <a:cs typeface="Courier New"/>
                <a:sym typeface="Courier New"/>
              </a:rPr>
              <a:t>Route B: 14 min [FREE-FLOW]  ← RECOMMENDED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